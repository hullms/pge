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"/>
            <a:ext cx="3017520" cy="3017520"/>
          </a:xfrm>
          <a:prstGeom prst="ellipse">
            <a:avLst/>
          </a:prstGeom>
          <a:solidFill>
            <a:srgbClr val="3D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594360"/>
            <a:ext cx="1920240" cy="1920240"/>
          </a:xfrm>
          <a:prstGeom prst="ellipse">
            <a:avLst/>
          </a:prstGeom>
          <a:solidFill>
            <a:srgbClr val="3D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52360" y="1097280"/>
            <a:ext cx="914400" cy="914400"/>
          </a:xfrm>
          <a:prstGeom prst="ellipse">
            <a:avLst/>
          </a:prstGeom>
          <a:solidFill>
            <a:srgbClr val="3D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0" y="3291840"/>
            <a:ext cx="1828800" cy="914400"/>
          </a:xfrm>
          <a:prstGeom prst="rect">
            <a:avLst/>
          </a:prstGeom>
          <a:solidFill>
            <a:srgbClr val="232A3B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A500"/>
                </a:solidFill>
              </a:rPr>
              <a:t>STM32L4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SYSTÈME EMBARQUÉ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Récepteur de Trames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0392B"/>
                </a:solidFill>
              </a:rPr>
              <a:t>Synchronisées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16352"/>
            <a:ext cx="1280160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Acquisition · Décodage · Surveillance · Transmission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3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Master EEA  ·  STM32L4  ·  USART1/USART2  ·  TIM5  ·  GPIO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RÉCEPTEUR STM32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24688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 &amp; Fonctionnement Général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749808"/>
            <a:ext cx="2743200" cy="4224528"/>
          </a:xfrm>
          <a:prstGeom prst="rect">
            <a:avLst/>
          </a:prstGeom>
          <a:solidFill>
            <a:srgbClr val="232A3B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749808"/>
            <a:ext cx="27432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9576" y="859536"/>
            <a:ext cx="786384" cy="7863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859536"/>
            <a:ext cx="786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55648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Acquisition du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231136"/>
            <a:ext cx="2377440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55264" y="749808"/>
            <a:ext cx="2743200" cy="4224528"/>
          </a:xfrm>
          <a:prstGeom prst="rect">
            <a:avLst/>
          </a:prstGeom>
          <a:solidFill>
            <a:srgbClr val="232A3B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55264" y="749808"/>
            <a:ext cx="2743200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859536"/>
            <a:ext cx="786384" cy="7863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859536"/>
            <a:ext cx="786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F2E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1755648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Surveillance &amp;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38144" y="2231136"/>
            <a:ext cx="2377440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749808"/>
            <a:ext cx="2743200" cy="4224528"/>
          </a:xfrm>
          <a:prstGeom prst="rect">
            <a:avLst/>
          </a:prstGeom>
          <a:solidFill>
            <a:srgbClr val="232A3B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749808"/>
            <a:ext cx="27432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87768" y="859536"/>
            <a:ext cx="786384" cy="7863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859536"/>
            <a:ext cx="786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1755648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Commande &amp; Transmission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231136"/>
            <a:ext cx="2377440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230428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232257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20 us/bit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254203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Bit-banging PA0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2980944"/>
            <a:ext cx="2377440" cy="18288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054096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07238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0xFE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3291839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Octet de sync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3730752"/>
            <a:ext cx="2377440" cy="18288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3803903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3822191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32 octets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40416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Trame 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4572000"/>
            <a:ext cx="2377440" cy="548640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" y="4700016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7000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FE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700016"/>
            <a:ext cx="256032" cy="2560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000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??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4128" y="4700016"/>
            <a:ext cx="256032" cy="2560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" y="47000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??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16736" y="4700016"/>
            <a:ext cx="256032" cy="2560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6736" y="47000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??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9344" y="4700016"/>
            <a:ext cx="256032" cy="2560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09344" y="47000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??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01952" y="4700016"/>
            <a:ext cx="256032" cy="2560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01952" y="47000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??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4560" y="4700016"/>
            <a:ext cx="256032" cy="2560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94560" y="47000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??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87168" y="4700016"/>
            <a:ext cx="256032" cy="2560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87168" y="47000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??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4974336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B0B8C8"/>
                </a:solidFill>
              </a:rPr>
              <a:t>Registre a decalage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38144" y="228600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Normal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59936" y="2761488"/>
            <a:ext cx="1755648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9664" y="2505456"/>
            <a:ext cx="2743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69664" y="2505456"/>
            <a:ext cx="438912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81144" y="2505456"/>
            <a:ext cx="2743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9664" y="2816352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27AE60"/>
                </a:solidFill>
              </a:rPr>
              <a:t>&lt; 20 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38144" y="3108960"/>
            <a:ext cx="694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Anomalie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59936" y="3584448"/>
            <a:ext cx="1755648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69664" y="3328415"/>
            <a:ext cx="274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69664" y="3328415"/>
            <a:ext cx="950976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93208" y="3328415"/>
            <a:ext cx="274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9664" y="3639312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0392B"/>
                </a:solidFill>
              </a:rPr>
              <a:t>&gt; 20 us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38144" y="3913632"/>
            <a:ext cx="2377440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38144" y="400507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Logique de comptage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38144" y="4279392"/>
            <a:ext cx="338328" cy="365760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38144" y="4279392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22192" y="4279392"/>
            <a:ext cx="338328" cy="365760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22192" y="4279392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06240" y="4279392"/>
            <a:ext cx="338328" cy="365760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06240" y="4279392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90288" y="4279392"/>
            <a:ext cx="338328" cy="365760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90288" y="4279392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74336" y="4279392"/>
            <a:ext cx="338328" cy="365760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74336" y="4279392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58384" y="4279392"/>
            <a:ext cx="338328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58384" y="4279392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96712" y="4398264"/>
            <a:ext cx="146304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843016" y="4306824"/>
            <a:ext cx="274320" cy="27432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43016" y="43068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F2E"/>
                </a:solidFill>
              </a:rPr>
              <a:t>LED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38144" y="471830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B8C8"/>
                </a:solidFill>
              </a:rPr>
              <a:t>6 anomalies/1s  alerte 10s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55664" y="2286000"/>
            <a:ext cx="2450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PIN9 - Transmission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55664" y="2578608"/>
            <a:ext cx="420624" cy="475488"/>
          </a:xfrm>
          <a:prstGeom prst="rect">
            <a:avLst/>
          </a:prstGeom>
          <a:solidFill>
            <a:srgbClr val="F0A500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55664" y="2578608"/>
            <a:ext cx="420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STX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76288" y="2578608"/>
            <a:ext cx="1426464" cy="475488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76288" y="257860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B8C8"/>
                </a:solidFill>
              </a:rPr>
              <a:t>22 octets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02752" y="2578608"/>
            <a:ext cx="420624" cy="475488"/>
          </a:xfrm>
          <a:prstGeom prst="rect">
            <a:avLst/>
          </a:prstGeom>
          <a:solidFill>
            <a:srgbClr val="F0A500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02752" y="2578608"/>
            <a:ext cx="420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ETX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55664" y="3090672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0A500"/>
                </a:solidFill>
              </a:rPr>
              <a:t>Debut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02752" y="3090672"/>
            <a:ext cx="420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0A500"/>
                </a:solidFill>
              </a:rPr>
              <a:t>Fin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55664" y="3328415"/>
            <a:ext cx="2450592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55664" y="3419856"/>
            <a:ext cx="2450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PIN10 - Selection MUX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55664" y="3730752"/>
            <a:ext cx="658368" cy="475488"/>
          </a:xfrm>
          <a:prstGeom prst="rect">
            <a:avLst/>
          </a:prstGeom>
          <a:solidFill>
            <a:srgbClr val="2C3347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55664" y="3730752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</a:rPr>
              <a:t>PIN10
PA10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14032" y="3913632"/>
            <a:ext cx="237744" cy="54864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0" y="3840480"/>
            <a:ext cx="64008" cy="20116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379208" y="3675887"/>
            <a:ext cx="621792" cy="585216"/>
          </a:xfrm>
          <a:prstGeom prst="rect">
            <a:avLst/>
          </a:prstGeom>
          <a:solidFill>
            <a:srgbClr val="2C3347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79208" y="3675887"/>
            <a:ext cx="6217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MUX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01000" y="4425695"/>
            <a:ext cx="182880" cy="36576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183880" y="4370831"/>
            <a:ext cx="841248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83880" y="4370831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MONO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01000" y="4608575"/>
            <a:ext cx="182880" cy="36576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183880" y="4553712"/>
            <a:ext cx="841248" cy="164592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183880" y="4553712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B0B8C8"/>
                </a:solidFill>
              </a:rPr>
              <a:t>MAINT 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01000" y="4791455"/>
            <a:ext cx="182880" cy="36576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83880" y="4736592"/>
            <a:ext cx="841248" cy="164592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83880" y="4736592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B0B8C8"/>
                </a:solidFill>
              </a:rPr>
              <a:t>MAINT 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001000" y="4974335"/>
            <a:ext cx="182880" cy="36576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183880" y="4919471"/>
            <a:ext cx="841248" cy="164592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83880" y="4919471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B0B8C8"/>
                </a:solidFill>
              </a:rPr>
              <a:t>MAINT 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01000" y="5157215"/>
            <a:ext cx="182880" cy="36576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183880" y="5102351"/>
            <a:ext cx="841248" cy="164592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183880" y="5102351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B0B8C8"/>
                </a:solidFill>
              </a:rPr>
              <a:t>MAINT 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0B8C8"/>
                </a:solidFill>
              </a:rPr>
              <a:t>Boucle principale non-bloquante — interruptions USART1 capturent chaque commande sans interrompre l'acquisition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RÉCEPTEUR STM32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24688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Pipeline de Traitement des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1" y="1348740"/>
            <a:ext cx="1389888" cy="1143000"/>
          </a:xfrm>
          <a:prstGeom prst="rect">
            <a:avLst/>
          </a:prstGeom>
          <a:solidFill>
            <a:srgbClr val="232A3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1" y="1348740"/>
            <a:ext cx="138988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03604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Signal PA0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79092"/>
            <a:ext cx="13898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Bit-banging
20us/bit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83664"/>
            <a:ext cx="146304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58568" y="1792224"/>
            <a:ext cx="82296" cy="2560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40863" y="1348740"/>
            <a:ext cx="1389888" cy="1143000"/>
          </a:xfrm>
          <a:prstGeom prst="rect">
            <a:avLst/>
          </a:prstGeom>
          <a:solidFill>
            <a:srgbClr val="232A3B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3" y="1348740"/>
            <a:ext cx="1389888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863" y="1403604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Sync 0xFE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3" y="1879092"/>
            <a:ext cx="13898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Detection
octet verrou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0752" y="1883664"/>
            <a:ext cx="146304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792224"/>
            <a:ext cx="82296" cy="2560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77056" y="1348740"/>
            <a:ext cx="1389888" cy="1143000"/>
          </a:xfrm>
          <a:prstGeom prst="rect">
            <a:avLst/>
          </a:prstGeom>
          <a:solidFill>
            <a:srgbClr val="232A3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48740"/>
            <a:ext cx="138988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7056" y="1403604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Trame 32o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1879092"/>
            <a:ext cx="13898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Lecture
31 octets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66944" y="1883664"/>
            <a:ext cx="146304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30952" y="1792224"/>
            <a:ext cx="82296" cy="2560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3248" y="1348740"/>
            <a:ext cx="1389888" cy="1143000"/>
          </a:xfrm>
          <a:prstGeom prst="rect">
            <a:avLst/>
          </a:prstGeom>
          <a:solidFill>
            <a:srgbClr val="232A3B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13248" y="1348740"/>
            <a:ext cx="1389888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3248" y="1403604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Tampon x10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1879092"/>
            <a:ext cx="13898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Vote
&gt;=3/10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03136" y="1883664"/>
            <a:ext cx="146304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7144" y="1792224"/>
            <a:ext cx="82296" cy="2560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1348740"/>
            <a:ext cx="1389888" cy="1143000"/>
          </a:xfrm>
          <a:prstGeom prst="rect">
            <a:avLst/>
          </a:prstGeom>
          <a:solidFill>
            <a:srgbClr val="232A3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9440" y="1348740"/>
            <a:ext cx="138988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1403604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TX PIN9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879092"/>
            <a:ext cx="13898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STX+22o
+ETX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852928"/>
            <a:ext cx="3931920" cy="1755648"/>
          </a:xfrm>
          <a:prstGeom prst="rect">
            <a:avLst/>
          </a:prstGeom>
          <a:solidFill>
            <a:srgbClr val="232A3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2852928"/>
            <a:ext cx="39319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292608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Commandes PIN10  (interruption USART1)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3255264"/>
            <a:ext cx="36576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L'ISR USART1 capture chaque octet recu sur PA10. Le contexte principal decode la commande, selectionne le canal MUX et declenche une resynchronisation sans perte de trame.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852928"/>
            <a:ext cx="3931920" cy="1755648"/>
          </a:xfrm>
          <a:prstGeom prst="rect">
            <a:avLst/>
          </a:prstGeom>
          <a:solidFill>
            <a:srgbClr val="232A3B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37760" y="2852928"/>
            <a:ext cx="3931920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292608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</a:rPr>
              <a:t>Detection d'anomalies  (TIM5)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3255264"/>
            <a:ext cx="36576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6 impulsions anormales (&gt; 20 us) en 1s declenchent une alerte visuelle : LED 10s sur PA5 et signal logique sur PA1, indiquant la perte de synchronisation.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RÉCEPTEUR STM32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24688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Validation &amp; Selection de la Trame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22960"/>
            <a:ext cx="8686800" cy="4206240"/>
          </a:xfrm>
          <a:prstGeom prst="rect">
            <a:avLst/>
          </a:prstGeom>
          <a:solidFill>
            <a:srgbClr val="232A3B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4251960" cy="420624"/>
          </a:xfrm>
          <a:prstGeom prst="rect">
            <a:avLst/>
          </a:prstGeom>
          <a:solidFill>
            <a:srgbClr val="232A3B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68680"/>
            <a:ext cx="310896" cy="3108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86868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8686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Buffer Circulaire  (10 trames)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389888"/>
            <a:ext cx="347472" cy="438912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T1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403" y="1389888"/>
            <a:ext cx="347472" cy="438912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T2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3622" y="1389888"/>
            <a:ext cx="347472" cy="438912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T3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75841" y="1389888"/>
            <a:ext cx="347472" cy="438912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75841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T4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58060" y="1389888"/>
            <a:ext cx="347472" cy="438912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58060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T5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79" y="1389888"/>
            <a:ext cx="347472" cy="438912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79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T6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22499" y="1389888"/>
            <a:ext cx="347472" cy="438912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2499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T7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04718" y="1389888"/>
            <a:ext cx="347472" cy="438912"/>
          </a:xfrm>
          <a:prstGeom prst="rect">
            <a:avLst/>
          </a:prstGeom>
          <a:solidFill>
            <a:srgbClr val="F0A500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4718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F2E"/>
                </a:solidFill>
              </a:rPr>
              <a:t>NEW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6937" y="1389888"/>
            <a:ext cx="347472" cy="438912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6937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T9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69156" y="1389888"/>
            <a:ext cx="347472" cy="438912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9156" y="13898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T10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" y="190195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8C8"/>
                </a:solidFill>
              </a:rPr>
              <a:t>Ecrasement circulaire  (index 0 -&gt; 9 -&gt; 0...)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2194560"/>
            <a:ext cx="4023360" cy="1719072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267712"/>
            <a:ext cx="3767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Fonctionnement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487168"/>
            <a:ext cx="37673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Chaque trame recue (sync 0xFE valide) est stockee dans un tableau circulaire de 10 emplacements. Lorsque le buffer est plein, les nouvelles trames ecrasent les plus anciennes.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0400"/>
            <a:ext cx="3767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Declenchement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419856"/>
            <a:ext cx="3767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L'analyse de vote est lancee automatiquement tous les 10 trames recues.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932688"/>
            <a:ext cx="36576" cy="400507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17136" y="822960"/>
            <a:ext cx="4398264" cy="420624"/>
          </a:xfrm>
          <a:prstGeom prst="rect">
            <a:avLst/>
          </a:prstGeom>
          <a:solidFill>
            <a:srgbClr val="232A3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868680"/>
            <a:ext cx="310896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86868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86868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Algorithme de Vote Majoritaire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1389888"/>
            <a:ext cx="3017520" cy="384048"/>
          </a:xfrm>
          <a:prstGeom prst="rect">
            <a:avLst/>
          </a:prstGeom>
          <a:solidFill>
            <a:srgbClr val="2D1A0A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35240" y="1389888"/>
            <a:ext cx="118872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90872" y="13898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T1 = T3 = T5 = T7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138988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4 / 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1847088"/>
            <a:ext cx="3017520" cy="384048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35240" y="1847088"/>
            <a:ext cx="1188720" cy="384048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18470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T4 = T8 = T9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184708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8"/>
                </a:solidFill>
              </a:rPr>
              <a:t>3 / 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2304288"/>
            <a:ext cx="3017520" cy="384048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35240" y="2304288"/>
            <a:ext cx="1188720" cy="384048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90872" y="23042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T2 = T6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230428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8"/>
                </a:solidFill>
              </a:rPr>
              <a:t>2 / 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2779776"/>
            <a:ext cx="420624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17720" y="277977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V  T1 retenue  -  score 4  &gt;=  seuil 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17720" y="3236976"/>
            <a:ext cx="4206240" cy="1591056"/>
          </a:xfrm>
          <a:prstGeom prst="rect">
            <a:avLst/>
          </a:prstGeom>
          <a:solidFill>
            <a:srgbClr val="2C3347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45736" y="3310128"/>
            <a:ext cx="3950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Principe O(n2) 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45736" y="3529584"/>
            <a:ext cx="3950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Pour chaque trame i, on compte combien de trames j lui sont identiques (comparaison octet par octet sur 32 octets). La trame avec le score le plus eleve est selectionnee.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45736" y="4224528"/>
            <a:ext cx="3950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Resultat 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45736" y="4443984"/>
            <a:ext cx="3950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Score &gt;= 3  -&gt;  trame transmise sur PIN9.   Score &lt; 3  -&gt;  [INSTABLE].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RÉCEPTEUR STM32 —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24688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Pourquoi la demo n'a pas fonctionne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768096"/>
            <a:ext cx="4160520" cy="4187952"/>
          </a:xfrm>
          <a:prstGeom prst="rect">
            <a:avLst/>
          </a:prstGeom>
          <a:solidFill>
            <a:srgbClr val="232A3B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768096"/>
            <a:ext cx="41605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877824"/>
            <a:ext cx="292608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8778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886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Cause Racine du Probleme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1243584"/>
            <a:ext cx="3986784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353312"/>
            <a:ext cx="3913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Seuil de detection incorrect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1627632"/>
            <a:ext cx="39136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8"/>
                </a:solidFill>
              </a:rPr>
              <a:t>Le code utilisait 30 us comme seuil pour detecter une impulsion anormale. Or, la duree d'un bit lors d'une desynchronisation est exactement 20 us — la meme duree qu'un bit normal.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2395728"/>
            <a:ext cx="3913632" cy="768096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2395728"/>
            <a:ext cx="391363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468880"/>
            <a:ext cx="3730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Consequence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688336"/>
            <a:ext cx="3730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Le detecteur d'anomalies ne se declenchait jamais. Les trames desynchronisees passaient dans le buffer et corrompaient le vote majoritaire. Mauvaise trame transmise.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3255264"/>
            <a:ext cx="3913632" cy="658368"/>
          </a:xfrm>
          <a:prstGeom prst="rect">
            <a:avLst/>
          </a:prstGeom>
          <a:solidFill>
            <a:srgbClr val="2C3347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" y="3255264"/>
            <a:ext cx="391363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328416"/>
            <a:ext cx="3730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Correction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547872"/>
            <a:ext cx="3730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Remplacer le seuil  30 us  -&gt;  20 us  dans la condition de detection d'anomalie (TIM5).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768096"/>
            <a:ext cx="4361688" cy="4187952"/>
          </a:xfrm>
          <a:prstGeom prst="rect">
            <a:avLst/>
          </a:prstGeom>
          <a:solidFill>
            <a:srgbClr val="232A3B"/>
          </a:solidFill>
          <a:ln w="12700">
            <a:solidFill>
              <a:srgbClr val="3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768096"/>
            <a:ext cx="4361688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877824"/>
            <a:ext cx="292608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8778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F2E"/>
                </a:solidFill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886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Diagramme Temporel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43584"/>
            <a:ext cx="4169663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1371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7AE60"/>
                </a:solidFill>
              </a:rPr>
              <a:t>Bit normal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1847088"/>
            <a:ext cx="4078224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57800" y="1591056"/>
            <a:ext cx="2743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57800" y="1591056"/>
            <a:ext cx="82296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53328" y="1591056"/>
            <a:ext cx="2743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57800" y="1938528"/>
            <a:ext cx="82296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57800" y="1901952"/>
            <a:ext cx="27432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53328" y="1901952"/>
            <a:ext cx="27432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6088" y="2029967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AE60"/>
                </a:solidFill>
              </a:rPr>
              <a:t>20 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1609344"/>
            <a:ext cx="3438144" cy="18288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627632"/>
            <a:ext cx="2633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1">
                <a:solidFill>
                  <a:srgbClr val="C0392B"/>
                </a:solidFill>
              </a:rPr>
              <a:t>seuil ancien = 30 us (trop haut)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23774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67E22"/>
                </a:solidFill>
              </a:rPr>
              <a:t>Bit desynchronise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23774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67E22"/>
                </a:solidFill>
              </a:rPr>
              <a:t>20 us &lt;- meme duree !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2852928"/>
            <a:ext cx="4078224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40680" y="2596896"/>
            <a:ext cx="27432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40680" y="2596896"/>
            <a:ext cx="950976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64224" y="2596896"/>
            <a:ext cx="27432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40680" y="2944368"/>
            <a:ext cx="950976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40680" y="2907791"/>
            <a:ext cx="27432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64224" y="2907791"/>
            <a:ext cx="27432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58968" y="3035808"/>
            <a:ext cx="9326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67E22"/>
                </a:solidFill>
              </a:rPr>
              <a:t>20 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2560320"/>
            <a:ext cx="1463040" cy="292608"/>
          </a:xfrm>
          <a:prstGeom prst="rect">
            <a:avLst/>
          </a:prstGeom>
          <a:solidFill>
            <a:srgbClr val="4A1A1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25603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X  Non detecte par TIM5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401568"/>
            <a:ext cx="4078224" cy="27432"/>
          </a:xfrm>
          <a:prstGeom prst="rect">
            <a:avLst/>
          </a:prstGeom>
          <a:solidFill>
            <a:srgbClr val="3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60" y="3493008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Apres correction  (seuil = 20 us)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09160" y="3767328"/>
            <a:ext cx="1920240" cy="475488"/>
          </a:xfrm>
          <a:prstGeom prst="rect">
            <a:avLst/>
          </a:prstGeom>
          <a:solidFill>
            <a:srgbClr val="2C334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64024" y="3803904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</a:rPr>
              <a:t>Avant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4024" y="3986783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seuil = 30 us
desync invisible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65976" y="39136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</a:rPr>
              <a:t>-&gt;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5160" y="3767328"/>
            <a:ext cx="1920240" cy="475488"/>
          </a:xfrm>
          <a:prstGeom prst="rect">
            <a:avLst/>
          </a:prstGeom>
          <a:solidFill>
            <a:srgbClr val="2C3347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0024" y="3803904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AE60"/>
                </a:solidFill>
              </a:rPr>
              <a:t>Apres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0024" y="3986783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seuil = 20 us
desync detectee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4974336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B8C8"/>
                </a:solidFill>
              </a:rPr>
              <a:t>Bug identifie post-demo  ·  Correction : changer le seuil TIM5 de 30 us -&gt; 20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